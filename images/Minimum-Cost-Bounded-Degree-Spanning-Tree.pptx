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4630400" cy="8229600"/>
  <p:notesSz cx="8229600" cy="14630400"/>
  <p:embeddedFontLst>
    <p:embeddedFont>
      <p:font typeface="Montserrat"/>
      <p:regular r:id="rId23"/>
    </p:embeddedFont>
    <p:embeddedFont>
      <p:font typeface="Montserrat"/>
      <p:regular r:id="rId24"/>
    </p:embeddedFont>
    <p:embeddedFont>
      <p:font typeface="Montserrat"/>
      <p:regular r:id="rId25"/>
    </p:embeddedFont>
    <p:embeddedFont>
      <p:font typeface="Montserrat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4020" y="3052763"/>
            <a:ext cx="11262360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Minimum-Cost Bounded-Degree Spanning Tree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4184571"/>
            <a:ext cx="1304282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Girvar Patidar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808220"/>
            <a:ext cx="1304282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Somya Bansal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8109"/>
            <a:ext cx="10729079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Problem: Finding Optimal Spanning Trees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3240524"/>
            <a:ext cx="352544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926187" y="3762137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Objective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93790" y="4412813"/>
            <a:ext cx="3525441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Given a weighted undirected connected graph, find a minimum-cost spanning tree where each node's degree is within a specified bound.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0253" y="3291602"/>
            <a:ext cx="4885015" cy="26647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26291" y="3240524"/>
            <a:ext cx="352544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458688" y="3762137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Research Goals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0326291" y="4412813"/>
            <a:ext cx="3525441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 reliance on time-consuming Linear Programming and adapt combinatorial local search techniques.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9369"/>
            <a:ext cx="10729079" cy="67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Problem: Finding Optimal Spanning Trees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3701177"/>
            <a:ext cx="6407944" cy="1958935"/>
          </a:xfrm>
          <a:prstGeom prst="roundRect">
            <a:avLst>
              <a:gd name="adj" fmla="val 7469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701177"/>
            <a:ext cx="121920" cy="1958935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958471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Objective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2524" y="4518422"/>
            <a:ext cx="580191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Given a weighted undirected connected graph, find a minimum-cost spanning tree where each node's degree is within a specified bound.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701177"/>
            <a:ext cx="6408063" cy="1958935"/>
          </a:xfrm>
          <a:prstGeom prst="roundRect">
            <a:avLst>
              <a:gd name="adj" fmla="val 7469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701177"/>
            <a:ext cx="121920" cy="1958935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958471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Research Goals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777282" y="4518422"/>
            <a:ext cx="580203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 reliance on time-consuming Linear Programming and adapt combinatorial local search techniques.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4649"/>
            <a:ext cx="10718363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Local Search for Unweighted Graphs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893100"/>
            <a:ext cx="6152912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Minimum-Degree Spanning Tree Problem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93790" y="3657124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a spanning tree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that minimizes the maximum degree of any vertex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92084"/>
            <a:ext cx="3991570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Computational Complexity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93790" y="5056108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F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NP-hard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problem is computationally intensive.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30203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Hamiltonian Path: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spanning tree with max degree 2 is a Hamiltonian path, which is NP-complete to decide.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980152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Exact solutions are infeasible, driving the need for approximation algorithms and heuristics.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5099"/>
            <a:ext cx="11063287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Designing the Local Search Algorithm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046452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polynomial-time local search algorithm finds a tree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a maximum degree at most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\cdot \text{OPT} + \lceil \log_2 n \rceil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98200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Local Move Definition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93790" y="4462224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edges not in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that create a cycle. Select an edge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(v, w)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where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\max(d_T(v), d_T(w)) \le d_T(u) - 2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1397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Move Properties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93790" y="5877997"/>
            <a:ext cx="13042821" cy="606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a move,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d_{T'}(u) = d_T(u) - 1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The algorithm targets high-degree nodes and terminates when no further moves are possible.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2941"/>
            <a:ext cx="9568577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OPT + 1 Local Search Framework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924294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framework operates in phases and subphases to reduce node degrees.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59254"/>
            <a:ext cx="332624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Phase-Based Execution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93790" y="4323278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 runs in phases, each removing all degree-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nodes. Each phase has subphases targeting single degree-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nodes.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5303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Subphase Actions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93790" y="6017062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reducible degree-(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-1) nodes, mark them, and update graph components. This enables local moves to reduce node degrees.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2941"/>
            <a:ext cx="9568577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OPT + 1 Local Search Framework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924294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framework operates in phases and subphases to reduce node degrees.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59254"/>
            <a:ext cx="332624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Phase-Based Execution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93790" y="4323278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 runs in phases, each removing all degree-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nodes. Each phase has subphases targeting single degree-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nodes.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5303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Subphase Actions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93790" y="6017062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reducible degree-(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-1) nodes, mark them, and update graph components. This enables local moves to reduce node degrees.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0063"/>
            <a:ext cx="9711214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Linear Programming Formulation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761417"/>
            <a:ext cx="13042821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use an LP formulation for a graph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 = (V, E)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edge costs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c_e \ge 0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degree bounds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b_v \ge 1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constrained vertices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 \subseteq V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71649"/>
            <a:ext cx="13042821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71649"/>
            <a:ext cx="13042821" cy="732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690943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Subject to: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240893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\sum_{e \in E} x_e = |V| - 1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(spanning tree)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631775"/>
            <a:ext cx="13042821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\sum_{e \in E(S)} x_e \le |S| - 1, \forall S \subseteq V, |S| \ge 2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(acyclicity)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044803"/>
            <a:ext cx="13042821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\sum_{e \in \delta(v)} x_e \le b_v, \forall v \in W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(degree bounds)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57831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x_e \ge 0, \forall e \in E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(non-negativity)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8518"/>
            <a:ext cx="9681686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LP-Based Deterministic Rounding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779871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iterative process to derive a spanning tree from the LP relaxation.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1483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Solve LP Relaxation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93790" y="4178856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Obtain a basic optimal solution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identify its support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E(x) = \{e : x_e &gt; 0\}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3060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Iterative Reduction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93790" y="5594628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Repeatedly remove zero-edges, add single incident edges to solution, and remove vertices from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under specific conditions.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439376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returns a spanning tree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cost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\le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LP optimal value, and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\deg_F(v) \le b_v + 2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each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 \in W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6306"/>
            <a:ext cx="9941123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Refinement to +1 Violation Bound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177659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improved algorithm guarantees a tighter bound on degree violations.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67770"/>
            <a:ext cx="6407944" cy="2285405"/>
          </a:xfrm>
          <a:prstGeom prst="roundRect">
            <a:avLst>
              <a:gd name="adj" fmla="val 6402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037290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37276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954F"/>
          </a:solidFill>
          <a:ln/>
        </p:spPr>
      </p:sp>
      <p:sp>
        <p:nvSpPr>
          <p:cNvPr id="7" name="Text 5"/>
          <p:cNvSpPr/>
          <p:nvPr/>
        </p:nvSpPr>
        <p:spPr>
          <a:xfrm>
            <a:off x="3861614" y="3890963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4634746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Improved Algorithm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51084" y="5194697"/>
            <a:ext cx="5893356" cy="90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Repeatedly solve LP relaxation and remove vertices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from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that are guaranteed to have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\le b_v + 1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support edges.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4067770"/>
            <a:ext cx="6408063" cy="2285405"/>
          </a:xfrm>
          <a:prstGeom prst="roundRect">
            <a:avLst>
              <a:gd name="adj" fmla="val 6402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28548" y="4037290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92298" y="37276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F95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496371" y="3890963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85842" y="4634746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Resulting Tree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7685842" y="5194697"/>
            <a:ext cx="5893475" cy="606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empty, compute an ordinary minimum-cost spanning tree. This yields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\deg_F(v) \le b_v + 1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7718"/>
            <a:ext cx="9726930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Flow-Based Constraint Reduction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686169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Motivation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93790" y="3450193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Replace the exponential number of cycle constraints with a polynomial-sized flow formulation.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26957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Extended Variable Set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93790" y="4877633"/>
            <a:ext cx="6244709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Original edge variables: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x_e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68516"/>
            <a:ext cx="6244709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 variables: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f_{uv}^a \ge 0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each arc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(u, v)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commodity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\in V \setminus \{r\}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226957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Flow Constraints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599521" y="4877633"/>
            <a:ext cx="6244709" cy="606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Capacity constraints: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\forall \{u, v\} \in E, \forall a \in V \setminus \{r\}: f_{uv}^a \le x_{uv}, f_{vu}^a \le x_{uv}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688092"/>
            <a:ext cx="624470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Per-commodity supply/demand ensures flow from source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sink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25842"/>
            <a:ext cx="7615118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Feedback Vertex Set (FVS)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4227195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set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 \subseteq V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an FVS if removing F makes the graph acyclic (every cycle intersects F).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618077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Goal: find F of minimum total cost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c(F) = \sum_{v \in F} c(v)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08959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is NP-hard, so we use approximation algorithms.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6506"/>
            <a:ext cx="9853017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Local Ratio for FVS: How It Works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827859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\alpha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\alpha = \min_{v \in V} c(v)/(d(v)−1)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where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d(v)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degree of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(assume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d(v) \geq 2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18742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 costs: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every vertex set: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c'(v) = c(v) − \alpha(d(v)−1)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(By choice of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\alpha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at least one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has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c'(v) = 0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9624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&amp; remove: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Let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F_0 = \{v \in V : c'(v) = 0\}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Add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F_0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the solution and remove them from the graph: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G' \leftarrow G \setminus F_0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00506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Recurse: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Run the same procedure on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(G', c'|_{V(G')})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get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F'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91388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Combine: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final FVS is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 = F_0 \cup F'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74608"/>
            <a:ext cx="9430703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Bounded-Degree Spanning Tree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875961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vertex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has a degree bound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b_v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66843"/>
            <a:ext cx="13042821" cy="606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any spanning tree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define the exceedance: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e_T(v) = d_T(v) − b_v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(How much the degree of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exceeds its allowed limit.)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2524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quality of a tree is measured by its maximum exceedance: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\max_{v \in V} e_T(v)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43406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Goal: Find a spanning tree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that minimizes this maximum exceedance: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\min_T \max_v e_T(v)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5895"/>
            <a:ext cx="7116842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Local Search Framework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697248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the current tree T, compute the current worst exceedance: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 = \max_v e_T(v)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88130"/>
            <a:ext cx="13042821" cy="606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the critical vertex sets: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D_k = \{v : e_T(v) = k\}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D_{k-1} = \{v : e_T(v) = k−1\}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These are the vertices closest to violating the bounds the most.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73811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algorithm searches for a local move (edge swap) that: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47905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reduces the degree of at least one vertex in </a:t>
            </a:r>
            <a:pPr algn="l" lvl="1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D_k</a:t>
            </a:r>
            <a:pPr algn="l" lvl="1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38788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maintaining a valid spanning tree.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4126"/>
            <a:ext cx="12262723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Lower Bound on the Optimal Exceedance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835479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Suppose at level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local improving move exists.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26362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every spanning tree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T'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must have: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\max_v e_{T'}(v) \ge k−1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17244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Meaning: Even the optimal spanning tree cannot reduce the worst exceedance below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k−1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08126"/>
            <a:ext cx="1304282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Therefore: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 \le \text{OPT}_{\text{exc}} + 1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99008"/>
            <a:ext cx="13042821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gives the algorithm a 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approximation guarantee.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2025-11-26T20:41:05Z</dcterms:created>
  <dcterms:modified xsi:type="dcterms:W3CDTF">2025-11-26T20:41:05Z</dcterms:modified>
</cp:coreProperties>
</file>