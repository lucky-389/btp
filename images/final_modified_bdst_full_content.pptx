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Minimum-Cost Bounded-Degree Spanning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Girvar Patidar · Somya Bansal</a:t>
            </a:r>
          </a:p>
          <a:p>
            <a:r>
              <a:t>IIT Delhi</a:t>
            </a:r>
          </a:p>
          <a:p/>
          <a:p>
            <a:r>
              <a:t>Goal:</a:t>
            </a:r>
          </a:p>
          <a:p>
            <a:r>
              <a:t>Design efficient algorithms for minimum-cost spanning trees under degree bounds.</a:t>
            </a:r>
          </a:p>
          <a:p/>
          <a:p>
            <a:r>
              <a:t>Includes:</a:t>
            </a:r>
          </a:p>
          <a:p>
            <a:r>
              <a:t>• Existing LP &amp; combinatorial methods</a:t>
            </a:r>
          </a:p>
          <a:p>
            <a:r>
              <a:t>• Our exceedance-based local search (OPT+1 inspired)</a:t>
            </a:r>
          </a:p>
          <a:p>
            <a:r>
              <a:t>• Visual examples and intuition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Given:</a:t>
            </a:r>
          </a:p>
          <a:p>
            <a:r>
              <a:t>• Graph G=(V,E)</a:t>
            </a:r>
          </a:p>
          <a:p>
            <a:r>
              <a:t>• Edge costs c_e</a:t>
            </a:r>
          </a:p>
          <a:p>
            <a:r>
              <a:t>• Degree bounds b_v</a:t>
            </a:r>
          </a:p>
          <a:p/>
          <a:p>
            <a:r>
              <a:t>Goal:</a:t>
            </a:r>
          </a:p>
          <a:p>
            <a:r>
              <a:t>Find a spanning tree minimizing cost while keeping degree(v) ≤ b_v.</a:t>
            </a:r>
          </a:p>
          <a:p/>
          <a:p>
            <a:r>
              <a:t>Challenges:</a:t>
            </a:r>
          </a:p>
          <a:p>
            <a:r>
              <a:t>• NP-hard</a:t>
            </a:r>
          </a:p>
          <a:p>
            <a:r>
              <a:t>• MST often violates degree bounds</a:t>
            </a:r>
          </a:p>
          <a:p>
            <a:r>
              <a:t>• Requires approximation/heuristic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Bounded-Degree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Exceedance:</a:t>
            </a:r>
          </a:p>
          <a:p>
            <a:r>
              <a:t>e_T(v) = deg_T(v) − b_v</a:t>
            </a:r>
          </a:p>
          <a:p/>
          <a:p>
            <a:r>
              <a:t>Goal: Minimize max exceedance.</a:t>
            </a:r>
          </a:p>
          <a:p/>
          <a:p>
            <a:r>
              <a:t>Visual:</a:t>
            </a:r>
          </a:p>
          <a:p>
            <a:r>
              <a:t>• Nodes labeled with bounds</a:t>
            </a:r>
          </a:p>
          <a:p>
            <a:r>
              <a:t>• Highlight violating node (red)</a:t>
            </a:r>
          </a:p>
          <a:p>
            <a:r>
              <a:t>• Show tree edges reducing exceedance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–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swap idea:</a:t>
            </a:r>
          </a:p>
          <a:p>
            <a:r>
              <a:t>• Add an edge → creates a cycle</a:t>
            </a:r>
          </a:p>
          <a:p>
            <a:r>
              <a:t>• Remove one edge from cycle to reduce high-degree node</a:t>
            </a:r>
          </a:p>
          <a:p/>
          <a:p>
            <a:r>
              <a:t>Key Principle:</a:t>
            </a:r>
          </a:p>
          <a:p>
            <a:r>
              <a:t>Only modify edges near worst-degree nodes.</a:t>
            </a:r>
          </a:p>
          <a:p/>
          <a:p>
            <a:r>
              <a:t>Outcome:</a:t>
            </a:r>
          </a:p>
          <a:p>
            <a:r>
              <a:t>Fast practical improvement even on large graphs.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Unweighted case:</a:t>
            </a:r>
          </a:p>
          <a:p>
            <a:r>
              <a:t>• Minimize maximum degree</a:t>
            </a:r>
          </a:p>
          <a:p>
            <a:r>
              <a:t>• NP-hard (Hamiltonian path = deg=2)</a:t>
            </a:r>
          </a:p>
          <a:p/>
          <a:p>
            <a:r>
              <a:t>Approximation:</a:t>
            </a:r>
          </a:p>
          <a:p>
            <a:r>
              <a:t>• Local search achieving 2·OPT + log n</a:t>
            </a:r>
          </a:p>
          <a:p>
            <a:r>
              <a:t>• Simple swaps reduce degree iteratively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LP Formulation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LP Relaxation:</a:t>
            </a:r>
          </a:p>
          <a:p>
            <a:r>
              <a:t>Minimize Σ c_e x_e</a:t>
            </a:r>
          </a:p>
          <a:p/>
          <a:p>
            <a:r>
              <a:t>Subject to:</a:t>
            </a:r>
          </a:p>
          <a:p>
            <a:r>
              <a:t>• Σ x_e = |V|–1</a:t>
            </a:r>
          </a:p>
          <a:p>
            <a:r>
              <a:t>• Acyclicity constraints</a:t>
            </a:r>
          </a:p>
          <a:p>
            <a:r>
              <a:t>• Degree constraints x(δ(v)) ≤ b_v</a:t>
            </a:r>
          </a:p>
          <a:p>
            <a:r>
              <a:t>• x_e ≥ 0</a:t>
            </a:r>
          </a:p>
          <a:p/>
          <a:p>
            <a:r>
              <a:t>Purpose:</a:t>
            </a:r>
          </a:p>
          <a:p>
            <a:r>
              <a:t>Provides lower bound, used for 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</a:t>
            </a:r>
          </a:p>
          <a:p>
            <a:r>
              <a:t>1. Solve LP</a:t>
            </a:r>
          </a:p>
          <a:p>
            <a:r>
              <a:t>2. Identify fractional edges</a:t>
            </a:r>
          </a:p>
          <a:p>
            <a:r>
              <a:t>3. Iteratively prune/remove/contract</a:t>
            </a:r>
          </a:p>
          <a:p>
            <a:r>
              <a:t>4. Produce spanning tree</a:t>
            </a:r>
          </a:p>
          <a:p/>
          <a:p>
            <a:r>
              <a:t>Guarantee:</a:t>
            </a:r>
          </a:p>
          <a:p>
            <a:r>
              <a:t>deg(v) ≤ b_v + 2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+1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LP-based filtering:</a:t>
            </a:r>
          </a:p>
          <a:p>
            <a:r>
              <a:t>• Remove vertices that already meet b_v+1</a:t>
            </a:r>
          </a:p>
          <a:p>
            <a:r>
              <a:t>• Shrinks W until empty</a:t>
            </a:r>
          </a:p>
          <a:p/>
          <a:p>
            <a:r>
              <a:t>Final MST on remaining graph ⇒</a:t>
            </a:r>
          </a:p>
          <a:p>
            <a:r>
              <a:t>deg(v) ≤ b_v + 1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Contribution: Exceedance-Based 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define exceedance:</a:t>
            </a:r>
          </a:p>
          <a:p>
            <a:r>
              <a:t>e_T(v) = deg_T(v) − b_v</a:t>
            </a:r>
          </a:p>
          <a:p/>
          <a:p>
            <a:r>
              <a:t>Algorithm goal:</a:t>
            </a:r>
          </a:p>
          <a:p>
            <a:r>
              <a:t>Minimize k = max_v e_T(v)</a:t>
            </a:r>
          </a:p>
          <a:p/>
          <a:p>
            <a:r>
              <a:t>Key advantage:</a:t>
            </a:r>
          </a:p>
          <a:p>
            <a:r>
              <a:t>• Works without LP</a:t>
            </a:r>
          </a:p>
          <a:p>
            <a:r>
              <a:t>• Intuitive</a:t>
            </a:r>
          </a:p>
          <a:p>
            <a:r>
              <a:t>• Phase-based like OPT+1 algorithm</a:t>
            </a:r>
          </a:p>
          <a:p>
            <a:r>
              <a:t>• Sensitive to worst-case vertices (D_k)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Exceedance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• Node A: deg=5, bound=3 ⇒ e(A)=2 (red)</a:t>
            </a:r>
          </a:p>
          <a:p>
            <a:r>
              <a:t>• A swap reduces deg(A) to 4 ⇒ e(A)=1</a:t>
            </a:r>
          </a:p>
          <a:p/>
          <a:p>
            <a:r>
              <a:t>Swap:</a:t>
            </a:r>
          </a:p>
          <a:p>
            <a:r>
              <a:t>Add edge → cycle created → remove edge hurting worst node least</a:t>
            </a:r>
          </a:p>
          <a:p/>
          <a:p>
            <a:r>
              <a:t>Result:</a:t>
            </a:r>
          </a:p>
          <a:p>
            <a:r>
              <a:t>max exceedance reduces from 2 →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Compute k = max exceedance</a:t>
            </a:r>
          </a:p>
          <a:p>
            <a:r>
              <a:t>2. Identify D_k (worst) and D_{k−1} (near-worst)</a:t>
            </a:r>
          </a:p>
          <a:p>
            <a:r>
              <a:t>3. Search for improving swap</a:t>
            </a:r>
          </a:p>
          <a:p>
            <a:r>
              <a:t>4. If swap reduces k → apply it</a:t>
            </a:r>
          </a:p>
          <a:p>
            <a:r>
              <a:t>5. Stop when no improving move exists</a:t>
            </a:r>
          </a:p>
          <a:p/>
          <a:p>
            <a:r>
              <a:t>Focus:</a:t>
            </a:r>
          </a:p>
          <a:p>
            <a:r>
              <a:t>Only swaps affecting D_k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Lower Bound Guarantee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no improving move exists at level k:</a:t>
            </a:r>
          </a:p>
          <a:p/>
          <a:p>
            <a:r>
              <a:t>Then ANY spanning tree must have</a:t>
            </a:r>
          </a:p>
          <a:p>
            <a:r>
              <a:t>max exceedance ≥ k−1</a:t>
            </a:r>
          </a:p>
          <a:p/>
          <a:p>
            <a:r>
              <a:t>Thus:</a:t>
            </a:r>
          </a:p>
          <a:p>
            <a:r>
              <a:t>Our final k satisfies k ≤ OPT + 1</a:t>
            </a:r>
          </a:p>
          <a:p/>
          <a:p>
            <a:r>
              <a:t>Meaning:</a:t>
            </a:r>
          </a:p>
          <a:p>
            <a:r>
              <a:t>We achieve a +1 approximation on exceedance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Comparison:</a:t>
            </a:r>
          </a:p>
          <a:p/>
          <a:p>
            <a:r>
              <a:t>LP Rounding:</a:t>
            </a:r>
          </a:p>
          <a:p>
            <a:r>
              <a:t>• Cost-focused</a:t>
            </a:r>
          </a:p>
          <a:p>
            <a:r>
              <a:t>• Needs LP solver</a:t>
            </a:r>
          </a:p>
          <a:p>
            <a:r>
              <a:t>• +1 or +2 degree violation</a:t>
            </a:r>
          </a:p>
          <a:p/>
          <a:p>
            <a:r>
              <a:t>Classical Local Search:</a:t>
            </a:r>
          </a:p>
          <a:p>
            <a:r>
              <a:t>• Degree minimization</a:t>
            </a:r>
          </a:p>
          <a:p>
            <a:r>
              <a:t>• No cost consideration</a:t>
            </a:r>
          </a:p>
          <a:p/>
          <a:p>
            <a:r>
              <a:t>Our Method:</a:t>
            </a:r>
          </a:p>
          <a:p>
            <a:r>
              <a:t>• Minimizes exceedance</a:t>
            </a:r>
          </a:p>
          <a:p>
            <a:r>
              <a:t>• Simple</a:t>
            </a:r>
          </a:p>
          <a:p>
            <a:r>
              <a:t>• OPT+1 guarantee</a:t>
            </a:r>
          </a:p>
          <a:p>
            <a:r>
              <a:t>• Purely combinatorial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achieved:</a:t>
            </a:r>
          </a:p>
          <a:p>
            <a:r>
              <a:t>• Visual, intuitive exceedance-based metric</a:t>
            </a:r>
          </a:p>
          <a:p>
            <a:r>
              <a:t>• Local search reducing worst violations</a:t>
            </a:r>
          </a:p>
          <a:p>
            <a:r>
              <a:t>• OPT+1 approximation</a:t>
            </a:r>
          </a:p>
          <a:p>
            <a:r>
              <a:t>• Practical, easy-to-implement algorithm</a:t>
            </a:r>
          </a:p>
          <a:p/>
          <a:p>
            <a:r>
              <a:t>Future Work:</a:t>
            </a:r>
          </a:p>
          <a:p>
            <a:r>
              <a:t>• Weighted-case integration</a:t>
            </a:r>
          </a:p>
          <a:p>
            <a:r>
              <a:t>• Faster swap selection</a:t>
            </a:r>
          </a:p>
          <a:p>
            <a:r>
              <a:t>• Hybrid LP + local search approaches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